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D72D69-6304-4598-A0DA-5E038F9403FF}">
  <a:tblStyle styleId="{34D72D69-6304-4598-A0DA-5E038F9403F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Lead with the OTX finding - this is the headline of the whole project. Based on 90 days of Sentinel alert data, the environment is dominated by identity attacks: brute force, password spray, impossible travel, RDP scanning, and suspicious PowerShell execution. OTX community pulses directly cover credential-attack infrastructure, which is why it scores 4 on Relevance - the highest of the five feeds. URLhaus remains a strong choice due to integration ease (5), but is not the standalone leader we would pick if we were ranking on relevance alone. Be ready to walk through the KQL query and top alert categories: PowerShell encoded (14k), high-velocity single IP (8.6k), impossible travel (13.5k combined), brute force / password spray (20k combined). Frame this as data-driven prioritization, not just documentation.</a:t>
            </a:r>
            <a:endParaRPr/>
          </a:p>
        </p:txBody>
      </p:sp>
      <p:sp>
        <p:nvSpPr>
          <p:cNvPr id="76" name="Google Shape;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65D"/>
        </a:solidFill>
      </p:bgPr>
    </p:bg>
    <p:spTree>
      <p:nvGrpSpPr>
        <p:cNvPr id="15" name="Shape 15"/>
        <p:cNvGrpSpPr/>
        <p:nvPr/>
      </p:nvGrpSpPr>
      <p:grpSpPr>
        <a:xfrm>
          <a:off x="0" y="0"/>
          <a:ext cx="0" cy="0"/>
          <a:chOff x="0" y="0"/>
          <a:chExt cx="0" cy="0"/>
        </a:xfrm>
      </p:grpSpPr>
      <p:sp>
        <p:nvSpPr>
          <p:cNvPr id="16" name="Google Shape;16;p3"/>
          <p:cNvSpPr/>
          <p:nvPr/>
        </p:nvSpPr>
        <p:spPr>
          <a:xfrm>
            <a:off x="457200" y="128016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External Threat Intel Feed Evaluation</a:t>
            </a:r>
            <a:endParaRPr b="0" i="0" sz="4000" u="none" cap="none" strike="noStrike">
              <a:solidFill>
                <a:schemeClr val="dk1"/>
              </a:solidFill>
              <a:latin typeface="Calibri"/>
              <a:ea typeface="Calibri"/>
              <a:cs typeface="Calibri"/>
              <a:sym typeface="Calibri"/>
            </a:endParaRPr>
          </a:p>
        </p:txBody>
      </p:sp>
      <p:sp>
        <p:nvSpPr>
          <p:cNvPr id="17" name="Google Shape;17;p3"/>
          <p:cNvSpPr/>
          <p:nvPr/>
        </p:nvSpPr>
        <p:spPr>
          <a:xfrm>
            <a:off x="457200" y="219456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0"/>
              </a:buClr>
              <a:buSzPts val="2200"/>
              <a:buFont typeface="Calibri"/>
              <a:buNone/>
            </a:pPr>
            <a:r>
              <a:rPr b="0" i="0" lang="en-US" sz="2200" u="none" cap="none" strike="noStrike">
                <a:solidFill>
                  <a:srgbClr val="CBD5E0"/>
                </a:solidFill>
                <a:latin typeface="Calibri"/>
                <a:ea typeface="Calibri"/>
                <a:cs typeface="Calibri"/>
                <a:sym typeface="Calibri"/>
              </a:rPr>
              <a:t>Mohamed Yagoub - July 2026</a:t>
            </a:r>
            <a:endParaRPr b="0" i="0" sz="2200" u="none" cap="none" strike="noStrike">
              <a:solidFill>
                <a:schemeClr val="dk1"/>
              </a:solidFill>
              <a:latin typeface="Calibri"/>
              <a:ea typeface="Calibri"/>
              <a:cs typeface="Calibri"/>
              <a:sym typeface="Calibri"/>
            </a:endParaRPr>
          </a:p>
        </p:txBody>
      </p:sp>
      <p:sp>
        <p:nvSpPr>
          <p:cNvPr id="18" name="Google Shape;18;p3"/>
          <p:cNvSpPr/>
          <p:nvPr/>
        </p:nvSpPr>
        <p:spPr>
          <a:xfrm>
            <a:off x="457200" y="269748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0"/>
              </a:buClr>
              <a:buSzPts val="1600"/>
              <a:buFont typeface="Calibri"/>
              <a:buNone/>
            </a:pPr>
            <a:r>
              <a:rPr b="0" i="1" lang="en-US" sz="1600" u="none" cap="none" strike="noStrike">
                <a:solidFill>
                  <a:srgbClr val="CBD5E0"/>
                </a:solidFill>
                <a:latin typeface="Calibri"/>
                <a:ea typeface="Calibri"/>
                <a:cs typeface="Calibri"/>
                <a:sym typeface="Calibri"/>
              </a:rPr>
              <a:t>Free Public Feed Research and Integration Recommendation</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457200" y="3840480"/>
            <a:ext cx="82296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Mohamed Yagoub</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Cybersecurity Intern</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Presented to Threat Intel Lead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July 2,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Problem Statement</a:t>
            </a:r>
            <a:endParaRPr b="0" i="0" sz="2200" u="none" cap="none" strike="noStrike">
              <a:solidFill>
                <a:schemeClr val="dk1"/>
              </a:solidFill>
              <a:latin typeface="Calibri"/>
              <a:ea typeface="Calibri"/>
              <a:cs typeface="Calibri"/>
              <a:sym typeface="Calibri"/>
            </a:endParaRPr>
          </a:p>
        </p:txBody>
      </p:sp>
      <p:sp>
        <p:nvSpPr>
          <p:cNvPr id="27" name="Google Shape;27;p4"/>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Why evaluate free threat intelligence feeds</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48640" y="1188720"/>
            <a:ext cx="804672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02C"/>
              </a:buClr>
              <a:buSzPts val="1600"/>
              <a:buFont typeface="Calibri"/>
              <a:buNone/>
            </a:pPr>
            <a:r>
              <a:rPr b="0" i="0" lang="en-US" sz="1600" u="none" cap="none" strike="noStrike">
                <a:solidFill>
                  <a:srgbClr val="1A202C"/>
                </a:solidFill>
                <a:latin typeface="Calibri"/>
                <a:ea typeface="Calibri"/>
                <a:cs typeface="Calibri"/>
                <a:sym typeface="Calibri"/>
              </a:rPr>
              <a:t>The SOC currently lacks a documented, prioritized set of external threat intelligence feeds. Analysts spend time manually researching indicators that could be surfaced automatically by well-chosen free public feeds.</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1A202C"/>
              </a:buClr>
              <a:buSzPts val="1600"/>
              <a:buFont typeface="Calibri"/>
              <a:buNone/>
            </a:pPr>
            <a:r>
              <a:rPr b="0" i="0" lang="en-US" sz="1600" u="none" cap="none" strike="noStrike">
                <a:solidFill>
                  <a:srgbClr val="1A202C"/>
                </a:solidFill>
                <a:latin typeface="Calibri"/>
                <a:ea typeface="Calibri"/>
                <a:cs typeface="Calibri"/>
                <a:sym typeface="Calibri"/>
              </a:rPr>
              <a:t>Free public feeds offer coverage across malware infrastructure, botnet C2, exploited vulnerabilities, and detection rules, at no licensing cost. However, feeds vary widely in relevance, integration effort, and platform fit.</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1A202C"/>
              </a:buClr>
              <a:buSzPts val="1600"/>
              <a:buFont typeface="Calibri"/>
              <a:buNone/>
            </a:pPr>
            <a:r>
              <a:rPr b="0" i="0" lang="en-US" sz="1600" u="none" cap="none" strike="noStrike">
                <a:solidFill>
                  <a:srgbClr val="1A202C"/>
                </a:solidFill>
                <a:latin typeface="Calibri"/>
                <a:ea typeface="Calibri"/>
                <a:cs typeface="Calibri"/>
                <a:sym typeface="Calibri"/>
              </a:rPr>
              <a:t>This project evaluates five candidate feeds against a consistent rubric and recommends a priority order for integration into MISP and Sentinel.</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5"/>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Methodology</a:t>
            </a:r>
            <a:endParaRPr b="0" i="0" sz="2200" u="none" cap="none" strike="noStrike">
              <a:solidFill>
                <a:schemeClr val="dk1"/>
              </a:solidFill>
              <a:latin typeface="Calibri"/>
              <a:ea typeface="Calibri"/>
              <a:cs typeface="Calibri"/>
              <a:sym typeface="Calibri"/>
            </a:endParaRPr>
          </a:p>
        </p:txBody>
      </p:sp>
      <p:sp>
        <p:nvSpPr>
          <p:cNvPr id="36" name="Google Shape;36;p5"/>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Feeds evaluated, criteria applied, and data sources</a:t>
            </a:r>
            <a:endParaRPr b="0" i="0" sz="1200" u="none" cap="none" strike="noStrike">
              <a:solidFill>
                <a:schemeClr val="dk1"/>
              </a:solidFill>
              <a:latin typeface="Calibri"/>
              <a:ea typeface="Calibri"/>
              <a:cs typeface="Calibri"/>
              <a:sym typeface="Calibri"/>
            </a:endParaRPr>
          </a:p>
        </p:txBody>
      </p:sp>
      <p:sp>
        <p:nvSpPr>
          <p:cNvPr id="37" name="Google Shape;37;p5"/>
          <p:cNvSpPr/>
          <p:nvPr/>
        </p:nvSpPr>
        <p:spPr>
          <a:xfrm>
            <a:off x="548640" y="109728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65D"/>
              </a:buClr>
              <a:buSzPts val="1600"/>
              <a:buFont typeface="Calibri"/>
              <a:buNone/>
            </a:pPr>
            <a:r>
              <a:rPr b="1" i="0" lang="en-US" sz="1600" u="none" cap="none" strike="noStrike">
                <a:solidFill>
                  <a:srgbClr val="1A365D"/>
                </a:solidFill>
                <a:latin typeface="Calibri"/>
                <a:ea typeface="Calibri"/>
                <a:cs typeface="Calibri"/>
                <a:sym typeface="Calibri"/>
              </a:rPr>
              <a:t>Feeds Evaluated</a:t>
            </a:r>
            <a:endParaRPr b="0" i="0" sz="1600" u="none" cap="none" strike="noStrike">
              <a:solidFill>
                <a:schemeClr val="dk1"/>
              </a:solidFill>
              <a:latin typeface="Calibri"/>
              <a:ea typeface="Calibri"/>
              <a:cs typeface="Calibri"/>
              <a:sym typeface="Calibri"/>
            </a:endParaRPr>
          </a:p>
        </p:txBody>
      </p:sp>
      <p:sp>
        <p:nvSpPr>
          <p:cNvPr id="38" name="Google Shape;38;p5"/>
          <p:cNvSpPr/>
          <p:nvPr/>
        </p:nvSpPr>
        <p:spPr>
          <a:xfrm>
            <a:off x="548640" y="1463040"/>
            <a:ext cx="3931920" cy="2286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Abuse.ch URLhaus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Abuse.ch Feodo Tracker</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AlienVault OTX (LevelBlue)</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Emerging Threats Open</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CISA Known Exploited Vulnerabilities</a:t>
            </a:r>
            <a:endParaRPr b="0" i="0" sz="1400" u="none" cap="none" strike="noStrike">
              <a:solidFill>
                <a:schemeClr val="dk1"/>
              </a:solidFill>
              <a:latin typeface="Calibri"/>
              <a:ea typeface="Calibri"/>
              <a:cs typeface="Calibri"/>
              <a:sym typeface="Calibri"/>
            </a:endParaRPr>
          </a:p>
        </p:txBody>
      </p:sp>
      <p:sp>
        <p:nvSpPr>
          <p:cNvPr id="39" name="Google Shape;39;p5"/>
          <p:cNvSpPr/>
          <p:nvPr/>
        </p:nvSpPr>
        <p:spPr>
          <a:xfrm>
            <a:off x="4754880" y="109728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65D"/>
              </a:buClr>
              <a:buSzPts val="1600"/>
              <a:buFont typeface="Calibri"/>
              <a:buNone/>
            </a:pPr>
            <a:r>
              <a:rPr b="1" i="0" lang="en-US" sz="1600" u="none" cap="none" strike="noStrike">
                <a:solidFill>
                  <a:srgbClr val="1A365D"/>
                </a:solidFill>
                <a:latin typeface="Calibri"/>
                <a:ea typeface="Calibri"/>
                <a:cs typeface="Calibri"/>
                <a:sym typeface="Calibri"/>
              </a:rPr>
              <a:t>Evaluation Criteria</a:t>
            </a:r>
            <a:endParaRPr b="0" i="0" sz="1600" u="none" cap="none" strike="noStrike">
              <a:solidFill>
                <a:schemeClr val="dk1"/>
              </a:solidFill>
              <a:latin typeface="Calibri"/>
              <a:ea typeface="Calibri"/>
              <a:cs typeface="Calibri"/>
              <a:sym typeface="Calibri"/>
            </a:endParaRPr>
          </a:p>
        </p:txBody>
      </p:sp>
      <p:sp>
        <p:nvSpPr>
          <p:cNvPr id="40" name="Google Shape;40;p5"/>
          <p:cNvSpPr/>
          <p:nvPr/>
        </p:nvSpPr>
        <p:spPr>
          <a:xfrm>
            <a:off x="4754880" y="1463040"/>
            <a:ext cx="3931920" cy="2286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Indicator types provided</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Update frequency</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Integration ease (MISP and Sentinel)</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Relevance to observed range threats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400"/>
              <a:buFont typeface="Calibri"/>
              <a:buChar char="•"/>
            </a:pPr>
            <a:r>
              <a:rPr b="0" i="0" lang="en-US" sz="1400" u="none" cap="none" strike="noStrike">
                <a:solidFill>
                  <a:srgbClr val="1A202C"/>
                </a:solidFill>
                <a:latin typeface="Calibri"/>
                <a:ea typeface="Calibri"/>
                <a:cs typeface="Calibri"/>
                <a:sym typeface="Calibri"/>
              </a:rPr>
              <a:t>Licensing and TLP handling</a:t>
            </a:r>
            <a:endParaRPr b="0" i="0" sz="1400" u="none" cap="none" strike="noStrike">
              <a:solidFill>
                <a:schemeClr val="dk1"/>
              </a:solidFill>
              <a:latin typeface="Calibri"/>
              <a:ea typeface="Calibri"/>
              <a:cs typeface="Calibri"/>
              <a:sym typeface="Calibri"/>
            </a:endParaRPr>
          </a:p>
        </p:txBody>
      </p:sp>
      <p:sp>
        <p:nvSpPr>
          <p:cNvPr id="41" name="Google Shape;41;p5"/>
          <p:cNvSpPr/>
          <p:nvPr/>
        </p:nvSpPr>
        <p:spPr>
          <a:xfrm>
            <a:off x="548640" y="3931920"/>
            <a:ext cx="8046720" cy="868680"/>
          </a:xfrm>
          <a:prstGeom prst="roundRect">
            <a:avLst>
              <a:gd fmla="val 5263" name="adj"/>
            </a:avLst>
          </a:prstGeom>
          <a:solidFill>
            <a:srgbClr val="F7FAFC"/>
          </a:solidFill>
          <a:ln cap="flat" cmpd="sng" w="9525">
            <a:solidFill>
              <a:srgbClr val="CBD5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731520" y="4023360"/>
            <a:ext cx="76809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3748"/>
              </a:buClr>
              <a:buSzPts val="1200"/>
              <a:buFont typeface="Calibri"/>
              <a:buNone/>
            </a:pPr>
            <a:r>
              <a:rPr b="0" i="1" lang="en-US" sz="1200" u="none" cap="none" strike="noStrike">
                <a:solidFill>
                  <a:srgbClr val="2D3748"/>
                </a:solidFill>
                <a:latin typeface="Calibri"/>
                <a:ea typeface="Calibri"/>
                <a:cs typeface="Calibri"/>
                <a:sym typeface="Calibri"/>
              </a:rPr>
              <a:t>Scoring uses a 1 to 5 scale for Integration Ease and Relevance. Combined score maps to a priority tier (1 through 4). </a:t>
            </a:r>
            <a:r>
              <a:rPr b="1" i="1" lang="en-US" sz="1200">
                <a:solidFill>
                  <a:srgbClr val="2D3748"/>
                </a:solidFill>
                <a:latin typeface="Calibri"/>
                <a:ea typeface="Calibri"/>
                <a:cs typeface="Calibri"/>
                <a:sym typeface="Calibri"/>
              </a:rPr>
              <a:t>Relevance scored against 90 days of observed SIEM alert data.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Evaluation Matrix</a:t>
            </a:r>
            <a:endParaRPr b="0" i="0" sz="2200" u="none" cap="none" strike="noStrike">
              <a:solidFill>
                <a:schemeClr val="dk1"/>
              </a:solidFill>
              <a:latin typeface="Calibri"/>
              <a:ea typeface="Calibri"/>
              <a:cs typeface="Calibri"/>
              <a:sym typeface="Calibri"/>
            </a:endParaRPr>
          </a:p>
        </p:txBody>
      </p:sp>
      <p:sp>
        <p:nvSpPr>
          <p:cNvPr id="50" name="Google Shape;50;p6"/>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Summary view with Integration Ease, Relevance, and Priority</a:t>
            </a:r>
            <a:endParaRPr b="0" i="0" sz="1200" u="none" cap="none" strike="noStrike">
              <a:solidFill>
                <a:schemeClr val="dk1"/>
              </a:solidFill>
              <a:latin typeface="Calibri"/>
              <a:ea typeface="Calibri"/>
              <a:cs typeface="Calibri"/>
              <a:sym typeface="Calibri"/>
            </a:endParaRPr>
          </a:p>
        </p:txBody>
      </p:sp>
      <p:graphicFrame>
        <p:nvGraphicFramePr>
          <p:cNvPr id="51" name="Google Shape;51;p6"/>
          <p:cNvGraphicFramePr/>
          <p:nvPr/>
        </p:nvGraphicFramePr>
        <p:xfrm>
          <a:off x="274320" y="960120"/>
          <a:ext cx="3000000" cy="3000000"/>
        </p:xfrm>
        <a:graphic>
          <a:graphicData uri="http://schemas.openxmlformats.org/drawingml/2006/table">
            <a:tbl>
              <a:tblPr>
                <a:noFill/>
                <a:tableStyleId>{34D72D69-6304-4598-A0DA-5E038F9403FF}</a:tableStyleId>
              </a:tblPr>
              <a:tblGrid>
                <a:gridCol w="1234450"/>
                <a:gridCol w="1965950"/>
                <a:gridCol w="1234450"/>
                <a:gridCol w="1691650"/>
                <a:gridCol w="685800"/>
                <a:gridCol w="640075"/>
                <a:gridCol w="1143000"/>
              </a:tblGrid>
              <a:tr h="53035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Feed</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Indicators</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MISP</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Sentinel</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Ease</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Rel.</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Priority</a:t>
                      </a:r>
                      <a:endParaRPr sz="10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1A365D"/>
                    </a:solidFill>
                  </a:tcPr>
                </a:tc>
              </a:tr>
              <a:tr h="530350">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URLhaus</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URLs, domains, IPs, hashes</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Default feed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Native TAXII 2.1</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5</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22C55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1A365D"/>
                        </a:buClr>
                        <a:buSzPts val="1200"/>
                        <a:buFont typeface="Calibri"/>
                        <a:buNone/>
                      </a:pPr>
                      <a:r>
                        <a:rPr b="1" lang="en-US" sz="1200" u="none" cap="none" strike="noStrike">
                          <a:solidFill>
                            <a:srgbClr val="1A365D"/>
                          </a:solidFill>
                          <a:latin typeface="Calibri"/>
                          <a:ea typeface="Calibri"/>
                          <a:cs typeface="Calibri"/>
                          <a:sym typeface="Calibri"/>
                        </a:rPr>
                        <a:t>P2</a:t>
                      </a:r>
                      <a:endParaRPr sz="12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7FAFC"/>
                    </a:solidFill>
                  </a:tcPr>
                </a:tc>
              </a:tr>
              <a:tr h="530350">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Feodo Tracker</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Botnet C2 IPs</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Default feed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Bridge or Logic App</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2</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97316"/>
                    </a:solidFill>
                  </a:tcPr>
                </a:tc>
                <a:tc>
                  <a:txBody>
                    <a:bodyPr/>
                    <a:lstStyle/>
                    <a:p>
                      <a:pPr indent="0" lvl="0" marL="0" marR="0" rtl="0" algn="ctr">
                        <a:spcBef>
                          <a:spcPts val="0"/>
                        </a:spcBef>
                        <a:spcAft>
                          <a:spcPts val="0"/>
                        </a:spcAft>
                        <a:buClr>
                          <a:srgbClr val="1A365D"/>
                        </a:buClr>
                        <a:buSzPts val="1200"/>
                        <a:buFont typeface="Calibri"/>
                        <a:buNone/>
                      </a:pPr>
                      <a:r>
                        <a:rPr b="1" lang="en-US" sz="1200" u="none" cap="none" strike="noStrike">
                          <a:solidFill>
                            <a:srgbClr val="1A365D"/>
                          </a:solidFill>
                          <a:latin typeface="Calibri"/>
                          <a:ea typeface="Calibri"/>
                          <a:cs typeface="Calibri"/>
                          <a:sym typeface="Calibri"/>
                        </a:rPr>
                        <a:t>P3</a:t>
                      </a:r>
                      <a:endParaRPr sz="12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7FAFC"/>
                    </a:solidFill>
                  </a:tcPr>
                </a:tc>
              </a:tr>
              <a:tr h="530350">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AlienVault OTX</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IPs, domains, hashes, CVEs, YARA</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Default feed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Content Hub package</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4</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84CC16"/>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4</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84CC16"/>
                    </a:solidFill>
                  </a:tcPr>
                </a:tc>
                <a:tc>
                  <a:txBody>
                    <a:bodyPr/>
                    <a:lstStyle/>
                    <a:p>
                      <a:pPr indent="0" lvl="0" marL="0" marR="0" rtl="0" algn="ctr">
                        <a:spcBef>
                          <a:spcPts val="0"/>
                        </a:spcBef>
                        <a:spcAft>
                          <a:spcPts val="0"/>
                        </a:spcAft>
                        <a:buClr>
                          <a:srgbClr val="1A365D"/>
                        </a:buClr>
                        <a:buSzPts val="1200"/>
                        <a:buFont typeface="Calibri"/>
                        <a:buNone/>
                      </a:pPr>
                      <a:r>
                        <a:rPr b="1" lang="en-US" sz="1200" u="none" cap="none" strike="noStrike">
                          <a:solidFill>
                            <a:srgbClr val="1A365D"/>
                          </a:solidFill>
                          <a:latin typeface="Calibri"/>
                          <a:ea typeface="Calibri"/>
                          <a:cs typeface="Calibri"/>
                          <a:sym typeface="Calibri"/>
                        </a:rPr>
                        <a:t>P2</a:t>
                      </a:r>
                      <a:endParaRPr sz="12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7FAFC"/>
                    </a:solidFill>
                  </a:tcPr>
                </a:tc>
              </a:tr>
              <a:tr h="530350">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Emerging Threats Open</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Suricata/Snort rules, IPs</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Default feed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Not natively supported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2</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97316"/>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1A365D"/>
                        </a:buClr>
                        <a:buSzPts val="1200"/>
                        <a:buFont typeface="Calibri"/>
                        <a:buNone/>
                      </a:pPr>
                      <a:r>
                        <a:rPr b="1" lang="en-US" sz="1200" u="none" cap="none" strike="noStrike">
                          <a:solidFill>
                            <a:srgbClr val="1A365D"/>
                          </a:solidFill>
                          <a:latin typeface="Calibri"/>
                          <a:ea typeface="Calibri"/>
                          <a:cs typeface="Calibri"/>
                          <a:sym typeface="Calibri"/>
                        </a:rPr>
                        <a:t>P3</a:t>
                      </a:r>
                      <a:endParaRPr sz="12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7FAFC"/>
                    </a:solidFill>
                  </a:tcPr>
                </a:tc>
              </a:tr>
              <a:tr h="530350">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CISA KEV</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CVEs with exploitation flags</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Custom feed</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l">
                        <a:spcBef>
                          <a:spcPts val="0"/>
                        </a:spcBef>
                        <a:spcAft>
                          <a:spcPts val="0"/>
                        </a:spcAft>
                        <a:buClr>
                          <a:srgbClr val="1A202C"/>
                        </a:buClr>
                        <a:buSzPts val="900"/>
                        <a:buFont typeface="Calibri"/>
                        <a:buNone/>
                      </a:pPr>
                      <a:r>
                        <a:rPr lang="en-US" sz="900" u="none" cap="none" strike="noStrike">
                          <a:solidFill>
                            <a:srgbClr val="1A202C"/>
                          </a:solidFill>
                          <a:latin typeface="Calibri"/>
                          <a:ea typeface="Calibri"/>
                          <a:cs typeface="Calibri"/>
                          <a:sym typeface="Calibri"/>
                        </a:rPr>
                        <a:t>Logic App to TI Upload API</a:t>
                      </a:r>
                      <a:endParaRPr sz="9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a:t>
                      </a:r>
                      <a:endParaRPr sz="13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EAB308"/>
                    </a:solidFill>
                  </a:tcPr>
                </a:tc>
                <a:tc>
                  <a:txBody>
                    <a:bodyPr/>
                    <a:lstStyle/>
                    <a:p>
                      <a:pPr indent="0" lvl="0" marL="0" marR="0" rtl="0" algn="ctr">
                        <a:spcBef>
                          <a:spcPts val="0"/>
                        </a:spcBef>
                        <a:spcAft>
                          <a:spcPts val="0"/>
                        </a:spcAft>
                        <a:buClr>
                          <a:srgbClr val="1A365D"/>
                        </a:buClr>
                        <a:buSzPts val="1200"/>
                        <a:buFont typeface="Calibri"/>
                        <a:buNone/>
                      </a:pPr>
                      <a:r>
                        <a:rPr b="1" lang="en-US" sz="1200" u="none" cap="none" strike="noStrike">
                          <a:solidFill>
                            <a:srgbClr val="1A365D"/>
                          </a:solidFill>
                          <a:latin typeface="Calibri"/>
                          <a:ea typeface="Calibri"/>
                          <a:cs typeface="Calibri"/>
                          <a:sym typeface="Calibri"/>
                        </a:rPr>
                        <a:t>P3</a:t>
                      </a:r>
                      <a:endParaRPr sz="1200" u="none" cap="none" strike="noStrike">
                        <a:latin typeface="Calibri"/>
                        <a:ea typeface="Calibri"/>
                        <a:cs typeface="Calibri"/>
                        <a:sym typeface="Calibri"/>
                      </a:endParaRPr>
                    </a:p>
                  </a:txBody>
                  <a:tcPr marT="45725" marB="45725" marR="91450" marL="91450" anchor="ctr">
                    <a:lnL cap="flat" cmpd="sng" w="9525">
                      <a:solidFill>
                        <a:srgbClr val="CBD5E0"/>
                      </a:solidFill>
                      <a:prstDash val="solid"/>
                      <a:round/>
                      <a:headEnd len="sm" w="sm" type="none"/>
                      <a:tailEnd len="sm" w="sm" type="none"/>
                    </a:lnL>
                    <a:lnR cap="flat" cmpd="sng" w="9525">
                      <a:solidFill>
                        <a:srgbClr val="CBD5E0"/>
                      </a:solidFill>
                      <a:prstDash val="solid"/>
                      <a:round/>
                      <a:headEnd len="sm" w="sm" type="none"/>
                      <a:tailEnd len="sm" w="sm" type="none"/>
                    </a:lnR>
                    <a:lnT cap="flat" cmpd="sng" w="9525">
                      <a:solidFill>
                        <a:srgbClr val="CBD5E0"/>
                      </a:solidFill>
                      <a:prstDash val="solid"/>
                      <a:round/>
                      <a:headEnd len="sm" w="sm" type="none"/>
                      <a:tailEnd len="sm" w="sm" type="none"/>
                    </a:lnT>
                    <a:lnB cap="flat" cmpd="sng" w="9525">
                      <a:solidFill>
                        <a:srgbClr val="CBD5E0"/>
                      </a:solidFill>
                      <a:prstDash val="solid"/>
                      <a:round/>
                      <a:headEnd len="sm" w="sm" type="none"/>
                      <a:tailEnd len="sm" w="sm" type="none"/>
                    </a:lnB>
                    <a:solidFill>
                      <a:srgbClr val="F7FAFC"/>
                    </a:solidFill>
                  </a:tcPr>
                </a:tc>
              </a:tr>
            </a:tbl>
          </a:graphicData>
        </a:graphic>
      </p:graphicFrame>
      <p:sp>
        <p:nvSpPr>
          <p:cNvPr id="52" name="Google Shape;52;p6"/>
          <p:cNvSpPr/>
          <p:nvPr/>
        </p:nvSpPr>
        <p:spPr>
          <a:xfrm>
            <a:off x="274320" y="4572000"/>
            <a:ext cx="8595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3748"/>
              </a:buClr>
              <a:buSzPts val="1000"/>
              <a:buFont typeface="Calibri"/>
              <a:buNone/>
            </a:pPr>
            <a:r>
              <a:rPr b="0" i="1" lang="en-US" sz="1000" u="none" cap="none" strike="noStrike">
                <a:solidFill>
                  <a:srgbClr val="2D3748"/>
                </a:solidFill>
                <a:latin typeface="Calibri"/>
                <a:ea typeface="Calibri"/>
                <a:cs typeface="Calibri"/>
                <a:sym typeface="Calibri"/>
              </a:rPr>
              <a:t>Relevance scored against 90-day Sentinel alert data. Priority = Integration Ease + Relevance, mapped to tier per rubric.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Key Findings</a:t>
            </a:r>
            <a:endParaRPr b="0" i="0" sz="2200" u="none" cap="none" strike="noStrike">
              <a:solidFill>
                <a:schemeClr val="dk1"/>
              </a:solidFill>
              <a:latin typeface="Calibri"/>
              <a:ea typeface="Calibri"/>
              <a:cs typeface="Calibri"/>
              <a:sym typeface="Calibri"/>
            </a:endParaRPr>
          </a:p>
        </p:txBody>
      </p:sp>
      <p:sp>
        <p:nvSpPr>
          <p:cNvPr id="60" name="Google Shape;60;p7"/>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Patterns that emerged during evaluation</a:t>
            </a:r>
            <a:endParaRPr b="0" i="0" sz="1200" u="none" cap="none" strike="noStrike">
              <a:solidFill>
                <a:schemeClr val="dk1"/>
              </a:solidFill>
              <a:latin typeface="Calibri"/>
              <a:ea typeface="Calibri"/>
              <a:cs typeface="Calibri"/>
              <a:sym typeface="Calibri"/>
            </a:endParaRPr>
          </a:p>
        </p:txBody>
      </p:sp>
      <p:sp>
        <p:nvSpPr>
          <p:cNvPr id="61" name="Google Shape;61;p7"/>
          <p:cNvSpPr/>
          <p:nvPr/>
        </p:nvSpPr>
        <p:spPr>
          <a:xfrm>
            <a:off x="365760" y="960120"/>
            <a:ext cx="4114800" cy="1783080"/>
          </a:xfrm>
          <a:prstGeom prst="roundRect">
            <a:avLst>
              <a:gd fmla="val 4103" name="adj"/>
            </a:avLst>
          </a:prstGeom>
          <a:solidFill>
            <a:srgbClr val="F7FAFC"/>
          </a:solidFill>
          <a:ln cap="flat" cmpd="sng" w="9525">
            <a:solidFill>
              <a:srgbClr val="CBD5E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548640" y="1097280"/>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OTX matches the observed threat profile</a:t>
            </a:r>
            <a:endParaRPr b="0" i="0" sz="1400" u="none" cap="none" strike="noStrike">
              <a:solidFill>
                <a:schemeClr val="dk1"/>
              </a:solidFill>
              <a:latin typeface="Calibri"/>
              <a:ea typeface="Calibri"/>
              <a:cs typeface="Calibri"/>
              <a:sym typeface="Calibri"/>
            </a:endParaRPr>
          </a:p>
        </p:txBody>
      </p:sp>
      <p:sp>
        <p:nvSpPr>
          <p:cNvPr id="63" name="Google Shape;63;p7"/>
          <p:cNvSpPr/>
          <p:nvPr/>
        </p:nvSpPr>
        <p:spPr>
          <a:xfrm>
            <a:off x="548640" y="1600200"/>
            <a:ext cx="374904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Environment is dominated by identity attacks (brute force, password spray, impossible travel, RDP). OTX pulses directly cover credential-attack infrastructure - the strongest Relevance fit of the five feeds.</a:t>
            </a:r>
            <a:endParaRPr b="0" i="0" sz="1100" u="none" cap="none" strike="noStrike">
              <a:solidFill>
                <a:schemeClr val="dk1"/>
              </a:solidFill>
              <a:latin typeface="Calibri"/>
              <a:ea typeface="Calibri"/>
              <a:cs typeface="Calibri"/>
              <a:sym typeface="Calibri"/>
            </a:endParaRPr>
          </a:p>
        </p:txBody>
      </p:sp>
      <p:sp>
        <p:nvSpPr>
          <p:cNvPr id="64" name="Google Shape;64;p7"/>
          <p:cNvSpPr/>
          <p:nvPr/>
        </p:nvSpPr>
        <p:spPr>
          <a:xfrm>
            <a:off x="4663440" y="960120"/>
            <a:ext cx="4114800" cy="1783080"/>
          </a:xfrm>
          <a:prstGeom prst="roundRect">
            <a:avLst>
              <a:gd fmla="val 4103" name="adj"/>
            </a:avLst>
          </a:prstGeom>
          <a:solidFill>
            <a:srgbClr val="F7FAFC"/>
          </a:solidFill>
          <a:ln cap="flat" cmpd="sng" w="9525">
            <a:solidFill>
              <a:srgbClr val="CBD5E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4846320" y="1097280"/>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URLhaus wins on integration, not relevance</a:t>
            </a:r>
            <a:endParaRPr b="0" i="0" sz="1400" u="none" cap="none" strike="noStrike">
              <a:solidFill>
                <a:schemeClr val="dk1"/>
              </a:solidFill>
              <a:latin typeface="Calibri"/>
              <a:ea typeface="Calibri"/>
              <a:cs typeface="Calibri"/>
              <a:sym typeface="Calibri"/>
            </a:endParaRPr>
          </a:p>
        </p:txBody>
      </p:sp>
      <p:sp>
        <p:nvSpPr>
          <p:cNvPr id="66" name="Google Shape;66;p7"/>
          <p:cNvSpPr/>
          <p:nvPr/>
        </p:nvSpPr>
        <p:spPr>
          <a:xfrm>
            <a:off x="4846320" y="1600200"/>
            <a:ext cx="374904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Highest Integration Ease (5) due to native TAXII, pre-built MISP JSON, and Suricata exports. But URL/domain threats are not in the top-volume alert categories, so Relevance is moderate.</a:t>
            </a:r>
            <a:endParaRPr b="0" i="0" sz="1100" u="none" cap="none" strike="noStrike">
              <a:solidFill>
                <a:schemeClr val="dk1"/>
              </a:solidFill>
              <a:latin typeface="Calibri"/>
              <a:ea typeface="Calibri"/>
              <a:cs typeface="Calibri"/>
              <a:sym typeface="Calibri"/>
            </a:endParaRPr>
          </a:p>
        </p:txBody>
      </p:sp>
      <p:sp>
        <p:nvSpPr>
          <p:cNvPr id="67" name="Google Shape;67;p7"/>
          <p:cNvSpPr/>
          <p:nvPr/>
        </p:nvSpPr>
        <p:spPr>
          <a:xfrm>
            <a:off x="365760" y="2926080"/>
            <a:ext cx="4114800" cy="1783080"/>
          </a:xfrm>
          <a:prstGeom prst="roundRect">
            <a:avLst>
              <a:gd fmla="val 4103" name="adj"/>
            </a:avLst>
          </a:prstGeom>
          <a:solidFill>
            <a:srgbClr val="F7FAFC"/>
          </a:solidFill>
          <a:ln cap="flat" cmpd="sng" w="9525">
            <a:solidFill>
              <a:srgbClr val="CBD5E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548640" y="3063240"/>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Emerging Threats Open has a Sentinel gap</a:t>
            </a:r>
            <a:endParaRPr b="0" i="0" sz="1400" u="none" cap="none" strike="noStrike">
              <a:solidFill>
                <a:schemeClr val="dk1"/>
              </a:solidFill>
              <a:latin typeface="Calibri"/>
              <a:ea typeface="Calibri"/>
              <a:cs typeface="Calibri"/>
              <a:sym typeface="Calibri"/>
            </a:endParaRPr>
          </a:p>
        </p:txBody>
      </p:sp>
      <p:sp>
        <p:nvSpPr>
          <p:cNvPr id="69" name="Google Shape;69;p7"/>
          <p:cNvSpPr/>
          <p:nvPr/>
        </p:nvSpPr>
        <p:spPr>
          <a:xfrm>
            <a:off x="548640" y="3566160"/>
            <a:ext cx="374904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Delivers Suricata/Snort rules, not raw indicators. Cannot be natively ingested by Sentinel. Value is realized only at the network sensor layer, which this environment does not have.</a:t>
            </a:r>
            <a:endParaRPr b="0" i="0" sz="1100" u="none" cap="none" strike="noStrike">
              <a:solidFill>
                <a:schemeClr val="dk1"/>
              </a:solidFill>
              <a:latin typeface="Calibri"/>
              <a:ea typeface="Calibri"/>
              <a:cs typeface="Calibri"/>
              <a:sym typeface="Calibri"/>
            </a:endParaRPr>
          </a:p>
        </p:txBody>
      </p:sp>
      <p:sp>
        <p:nvSpPr>
          <p:cNvPr id="70" name="Google Shape;70;p7"/>
          <p:cNvSpPr/>
          <p:nvPr/>
        </p:nvSpPr>
        <p:spPr>
          <a:xfrm>
            <a:off x="4663440" y="2926080"/>
            <a:ext cx="4114800" cy="1783080"/>
          </a:xfrm>
          <a:prstGeom prst="roundRect">
            <a:avLst>
              <a:gd fmla="val 4103" name="adj"/>
            </a:avLst>
          </a:prstGeom>
          <a:solidFill>
            <a:srgbClr val="F7FAFC"/>
          </a:solidFill>
          <a:ln cap="flat" cmpd="sng" w="9525">
            <a:solidFill>
              <a:srgbClr val="CBD5E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4846320" y="3063240"/>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Feodo Tracker does not fit current threats</a:t>
            </a:r>
            <a:endParaRPr b="0" i="0" sz="1400" u="none" cap="none" strike="noStrike">
              <a:solidFill>
                <a:schemeClr val="dk1"/>
              </a:solidFill>
              <a:latin typeface="Calibri"/>
              <a:ea typeface="Calibri"/>
              <a:cs typeface="Calibri"/>
              <a:sym typeface="Calibri"/>
            </a:endParaRPr>
          </a:p>
        </p:txBody>
      </p:sp>
      <p:sp>
        <p:nvSpPr>
          <p:cNvPr id="72" name="Google Shape;72;p7"/>
          <p:cNvSpPr/>
          <p:nvPr/>
        </p:nvSpPr>
        <p:spPr>
          <a:xfrm>
            <a:off x="4846320" y="3566160"/>
            <a:ext cx="374904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No botnet C2 or banking trojan activity in top alerts, and the site displayed an empty-datasets banner. Reassess if the threat landscape shifts toward malware C2 activity.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8"/>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Recommendation</a:t>
            </a:r>
            <a:endParaRPr b="0" i="0" sz="2200" u="none" cap="none" strike="noStrike">
              <a:solidFill>
                <a:schemeClr val="dk1"/>
              </a:solidFill>
              <a:latin typeface="Calibri"/>
              <a:ea typeface="Calibri"/>
              <a:cs typeface="Calibri"/>
              <a:sym typeface="Calibri"/>
            </a:endParaRPr>
          </a:p>
        </p:txBody>
      </p:sp>
      <p:sp>
        <p:nvSpPr>
          <p:cNvPr id="80" name="Google Shape;80;p8"/>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Priority order based on Integration Ease + Relevance</a:t>
            </a:r>
            <a:endParaRPr b="0" i="0" sz="1200" u="none" cap="none" strike="noStrike">
              <a:solidFill>
                <a:schemeClr val="dk1"/>
              </a:solidFill>
              <a:latin typeface="Calibri"/>
              <a:ea typeface="Calibri"/>
              <a:cs typeface="Calibri"/>
              <a:sym typeface="Calibri"/>
            </a:endParaRPr>
          </a:p>
        </p:txBody>
      </p:sp>
      <p:sp>
        <p:nvSpPr>
          <p:cNvPr id="81" name="Google Shape;81;p8"/>
          <p:cNvSpPr/>
          <p:nvPr/>
        </p:nvSpPr>
        <p:spPr>
          <a:xfrm>
            <a:off x="457200" y="1078992"/>
            <a:ext cx="502920" cy="502920"/>
          </a:xfrm>
          <a:prstGeom prst="ellipse">
            <a:avLst/>
          </a:prstGeom>
          <a:solidFill>
            <a:srgbClr val="EAB308"/>
          </a:solidFill>
          <a:ln cap="flat" cmpd="sng" w="12700">
            <a:solidFill>
              <a:srgbClr val="EAB3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57200" y="107899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P2</a:t>
            </a:r>
            <a:endParaRPr b="0" i="0" sz="1600" u="none" cap="none" strike="noStrike">
              <a:solidFill>
                <a:schemeClr val="dk1"/>
              </a:solidFill>
              <a:latin typeface="Calibri"/>
              <a:ea typeface="Calibri"/>
              <a:cs typeface="Calibri"/>
              <a:sym typeface="Calibri"/>
            </a:endParaRPr>
          </a:p>
        </p:txBody>
      </p:sp>
      <p:sp>
        <p:nvSpPr>
          <p:cNvPr id="83" name="Google Shape;83;p8"/>
          <p:cNvSpPr/>
          <p:nvPr/>
        </p:nvSpPr>
        <p:spPr>
          <a:xfrm>
            <a:off x="1188720" y="10515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URLhaus</a:t>
            </a:r>
            <a:endParaRPr b="0" i="0" sz="1400" u="none" cap="none" strike="noStrike">
              <a:solidFill>
                <a:schemeClr val="dk1"/>
              </a:solidFill>
              <a:latin typeface="Calibri"/>
              <a:ea typeface="Calibri"/>
              <a:cs typeface="Calibri"/>
              <a:sym typeface="Calibri"/>
            </a:endParaRPr>
          </a:p>
        </p:txBody>
      </p:sp>
      <p:sp>
        <p:nvSpPr>
          <p:cNvPr id="84" name="Google Shape;84;p8"/>
          <p:cNvSpPr/>
          <p:nvPr/>
        </p:nvSpPr>
        <p:spPr>
          <a:xfrm>
            <a:off x="1188720" y="1353312"/>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High integration ease and broad indicator coverage. Moderate Relevance - URL threats present but not in top alert categories.</a:t>
            </a:r>
            <a:endParaRPr b="0" i="0" sz="1100" u="none" cap="none" strike="noStrike">
              <a:solidFill>
                <a:schemeClr val="dk1"/>
              </a:solidFill>
              <a:latin typeface="Calibri"/>
              <a:ea typeface="Calibri"/>
              <a:cs typeface="Calibri"/>
              <a:sym typeface="Calibri"/>
            </a:endParaRPr>
          </a:p>
        </p:txBody>
      </p:sp>
      <p:sp>
        <p:nvSpPr>
          <p:cNvPr id="85" name="Google Shape;85;p8"/>
          <p:cNvSpPr/>
          <p:nvPr/>
        </p:nvSpPr>
        <p:spPr>
          <a:xfrm>
            <a:off x="457200" y="1737360"/>
            <a:ext cx="502920" cy="502920"/>
          </a:xfrm>
          <a:prstGeom prst="ellipse">
            <a:avLst/>
          </a:prstGeom>
          <a:solidFill>
            <a:srgbClr val="EAB308"/>
          </a:solidFill>
          <a:ln cap="flat" cmpd="sng" w="12700">
            <a:solidFill>
              <a:srgbClr val="EAB3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457200" y="17373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P2</a:t>
            </a:r>
            <a:endParaRPr b="0" i="0" sz="1600" u="none" cap="none" strike="noStrike">
              <a:solidFill>
                <a:schemeClr val="dk1"/>
              </a:solidFill>
              <a:latin typeface="Calibri"/>
              <a:ea typeface="Calibri"/>
              <a:cs typeface="Calibri"/>
              <a:sym typeface="Calibri"/>
            </a:endParaRPr>
          </a:p>
        </p:txBody>
      </p:sp>
      <p:sp>
        <p:nvSpPr>
          <p:cNvPr id="87" name="Google Shape;87;p8"/>
          <p:cNvSpPr/>
          <p:nvPr/>
        </p:nvSpPr>
        <p:spPr>
          <a:xfrm>
            <a:off x="1188720" y="17099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AlienVault OTX</a:t>
            </a:r>
            <a:endParaRPr b="0" i="0" sz="1400" u="none" cap="none" strike="noStrike">
              <a:solidFill>
                <a:schemeClr val="dk1"/>
              </a:solidFill>
              <a:latin typeface="Calibri"/>
              <a:ea typeface="Calibri"/>
              <a:cs typeface="Calibri"/>
              <a:sym typeface="Calibri"/>
            </a:endParaRPr>
          </a:p>
        </p:txBody>
      </p:sp>
      <p:sp>
        <p:nvSpPr>
          <p:cNvPr id="88" name="Google Shape;88;p8"/>
          <p:cNvSpPr/>
          <p:nvPr/>
        </p:nvSpPr>
        <p:spPr>
          <a:xfrm>
            <a:off x="1188720" y="2011680"/>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Highest Relevance of the five feeds. Community pulses directly cover observed identity-attack infrastructure.</a:t>
            </a:r>
            <a:endParaRPr b="0" i="0" sz="1100" u="none" cap="none" strike="noStrike">
              <a:solidFill>
                <a:schemeClr val="dk1"/>
              </a:solidFill>
              <a:latin typeface="Calibri"/>
              <a:ea typeface="Calibri"/>
              <a:cs typeface="Calibri"/>
              <a:sym typeface="Calibri"/>
            </a:endParaRPr>
          </a:p>
        </p:txBody>
      </p:sp>
      <p:sp>
        <p:nvSpPr>
          <p:cNvPr id="89" name="Google Shape;89;p8"/>
          <p:cNvSpPr/>
          <p:nvPr/>
        </p:nvSpPr>
        <p:spPr>
          <a:xfrm>
            <a:off x="457200" y="2395728"/>
            <a:ext cx="502920" cy="502920"/>
          </a:xfrm>
          <a:prstGeom prst="ellipse">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a:off x="457200" y="23957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P3</a:t>
            </a:r>
            <a:endParaRPr b="0" i="0" sz="1600" u="none" cap="none" strike="noStrike">
              <a:solidFill>
                <a:schemeClr val="dk1"/>
              </a:solidFill>
              <a:latin typeface="Calibri"/>
              <a:ea typeface="Calibri"/>
              <a:cs typeface="Calibri"/>
              <a:sym typeface="Calibri"/>
            </a:endParaRPr>
          </a:p>
        </p:txBody>
      </p:sp>
      <p:sp>
        <p:nvSpPr>
          <p:cNvPr id="91" name="Google Shape;91;p8"/>
          <p:cNvSpPr/>
          <p:nvPr/>
        </p:nvSpPr>
        <p:spPr>
          <a:xfrm>
            <a:off x="1188720" y="2368296"/>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CISA KEV</a:t>
            </a:r>
            <a:endParaRPr b="0" i="0" sz="1400" u="none" cap="none" strike="noStrike">
              <a:solidFill>
                <a:schemeClr val="dk1"/>
              </a:solidFill>
              <a:latin typeface="Calibri"/>
              <a:ea typeface="Calibri"/>
              <a:cs typeface="Calibri"/>
              <a:sym typeface="Calibri"/>
            </a:endParaRPr>
          </a:p>
        </p:txBody>
      </p:sp>
      <p:sp>
        <p:nvSpPr>
          <p:cNvPr id="92" name="Google Shape;92;p8"/>
          <p:cNvSpPr/>
          <p:nvPr/>
        </p:nvSpPr>
        <p:spPr>
          <a:xfrm>
            <a:off x="1188720" y="2670048"/>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Preventive value for vulnerability management. Route to Defender Vulnerability Management workflow, not Sentinel TI.</a:t>
            </a:r>
            <a:endParaRPr b="0" i="0" sz="1100" u="none" cap="none" strike="noStrike">
              <a:solidFill>
                <a:schemeClr val="dk1"/>
              </a:solidFill>
              <a:latin typeface="Calibri"/>
              <a:ea typeface="Calibri"/>
              <a:cs typeface="Calibri"/>
              <a:sym typeface="Calibri"/>
            </a:endParaRPr>
          </a:p>
        </p:txBody>
      </p:sp>
      <p:sp>
        <p:nvSpPr>
          <p:cNvPr id="93" name="Google Shape;93;p8"/>
          <p:cNvSpPr/>
          <p:nvPr/>
        </p:nvSpPr>
        <p:spPr>
          <a:xfrm>
            <a:off x="457200" y="3054096"/>
            <a:ext cx="502920" cy="502920"/>
          </a:xfrm>
          <a:prstGeom prst="ellipse">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457200" y="305409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P3</a:t>
            </a:r>
            <a:endParaRPr b="0" i="0" sz="1600" u="none" cap="none" strike="noStrike">
              <a:solidFill>
                <a:schemeClr val="dk1"/>
              </a:solidFill>
              <a:latin typeface="Calibri"/>
              <a:ea typeface="Calibri"/>
              <a:cs typeface="Calibri"/>
              <a:sym typeface="Calibri"/>
            </a:endParaRPr>
          </a:p>
        </p:txBody>
      </p:sp>
      <p:sp>
        <p:nvSpPr>
          <p:cNvPr id="95" name="Google Shape;95;p8"/>
          <p:cNvSpPr/>
          <p:nvPr/>
        </p:nvSpPr>
        <p:spPr>
          <a:xfrm>
            <a:off x="1188720" y="3026664"/>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Emerging Threats Open</a:t>
            </a:r>
            <a:endParaRPr b="0" i="0" sz="1400" u="none" cap="none" strike="noStrike">
              <a:solidFill>
                <a:schemeClr val="dk1"/>
              </a:solidFill>
              <a:latin typeface="Calibri"/>
              <a:ea typeface="Calibri"/>
              <a:cs typeface="Calibri"/>
              <a:sym typeface="Calibri"/>
            </a:endParaRPr>
          </a:p>
        </p:txBody>
      </p:sp>
      <p:sp>
        <p:nvSpPr>
          <p:cNvPr id="96" name="Google Shape;96;p8"/>
          <p:cNvSpPr/>
          <p:nvPr/>
        </p:nvSpPr>
        <p:spPr>
          <a:xfrm>
            <a:off x="1188720" y="3328416"/>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Relevance conditional on network sensor tier. Score would rise if Suricata/Snort infrastructure is added.</a:t>
            </a:r>
            <a:endParaRPr b="0" i="0" sz="1100" u="none" cap="none" strike="noStrike">
              <a:solidFill>
                <a:schemeClr val="dk1"/>
              </a:solidFill>
              <a:latin typeface="Calibri"/>
              <a:ea typeface="Calibri"/>
              <a:cs typeface="Calibri"/>
              <a:sym typeface="Calibri"/>
            </a:endParaRPr>
          </a:p>
        </p:txBody>
      </p:sp>
      <p:sp>
        <p:nvSpPr>
          <p:cNvPr id="97" name="Google Shape;97;p8"/>
          <p:cNvSpPr/>
          <p:nvPr/>
        </p:nvSpPr>
        <p:spPr>
          <a:xfrm>
            <a:off x="457200" y="3712464"/>
            <a:ext cx="502920" cy="502920"/>
          </a:xfrm>
          <a:prstGeom prst="ellipse">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457200" y="371246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P3</a:t>
            </a:r>
            <a:endParaRPr b="0" i="0" sz="1600" u="none" cap="none" strike="noStrike">
              <a:solidFill>
                <a:schemeClr val="dk1"/>
              </a:solidFill>
              <a:latin typeface="Calibri"/>
              <a:ea typeface="Calibri"/>
              <a:cs typeface="Calibri"/>
              <a:sym typeface="Calibri"/>
            </a:endParaRPr>
          </a:p>
        </p:txBody>
      </p:sp>
      <p:sp>
        <p:nvSpPr>
          <p:cNvPr id="99" name="Google Shape;99;p8"/>
          <p:cNvSpPr/>
          <p:nvPr/>
        </p:nvSpPr>
        <p:spPr>
          <a:xfrm>
            <a:off x="1188720" y="3685032"/>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Feodo Tracker</a:t>
            </a:r>
            <a:endParaRPr b="0" i="0" sz="1400" u="none" cap="none" strike="noStrike">
              <a:solidFill>
                <a:schemeClr val="dk1"/>
              </a:solidFill>
              <a:latin typeface="Calibri"/>
              <a:ea typeface="Calibri"/>
              <a:cs typeface="Calibri"/>
              <a:sym typeface="Calibri"/>
            </a:endParaRPr>
          </a:p>
        </p:txBody>
      </p:sp>
      <p:sp>
        <p:nvSpPr>
          <p:cNvPr id="100" name="Google Shape;100;p8"/>
          <p:cNvSpPr/>
          <p:nvPr/>
        </p:nvSpPr>
        <p:spPr>
          <a:xfrm>
            <a:off x="1188720" y="3986784"/>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Low current fit - no botnet C2 in top alerts and empty-datasets banner observed. Reassess if threat landscape changes.</a:t>
            </a:r>
            <a:endParaRPr b="0" i="0" sz="1100" u="none" cap="none" strike="noStrike">
              <a:solidFill>
                <a:schemeClr val="dk1"/>
              </a:solidFill>
              <a:latin typeface="Calibri"/>
              <a:ea typeface="Calibri"/>
              <a:cs typeface="Calibri"/>
              <a:sym typeface="Calibri"/>
            </a:endParaRPr>
          </a:p>
        </p:txBody>
      </p:sp>
      <p:sp>
        <p:nvSpPr>
          <p:cNvPr id="101" name="Google Shape;101;p8"/>
          <p:cNvSpPr/>
          <p:nvPr/>
        </p:nvSpPr>
        <p:spPr>
          <a:xfrm>
            <a:off x="457200" y="45262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3748"/>
              </a:buClr>
              <a:buSzPts val="1000"/>
              <a:buFont typeface="Calibri"/>
              <a:buNone/>
            </a:pPr>
            <a:r>
              <a:rPr b="0" i="1" lang="en-US" sz="1000" u="none" cap="none" strike="noStrike">
                <a:solidFill>
                  <a:srgbClr val="2D3748"/>
                </a:solidFill>
                <a:latin typeface="Calibri"/>
                <a:ea typeface="Calibri"/>
                <a:cs typeface="Calibri"/>
                <a:sym typeface="Calibri"/>
              </a:rPr>
              <a:t>OTX moves up due to strong Relevance fit against 90-day alert data; URLhaus remains high due to integration advantages.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9"/>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Integration Roadmap</a:t>
            </a:r>
            <a:endParaRPr b="0" i="0" sz="2200" u="none" cap="none" strike="noStrike">
              <a:solidFill>
                <a:schemeClr val="dk1"/>
              </a:solidFill>
              <a:latin typeface="Calibri"/>
              <a:ea typeface="Calibri"/>
              <a:cs typeface="Calibri"/>
              <a:sym typeface="Calibri"/>
            </a:endParaRPr>
          </a:p>
        </p:txBody>
      </p:sp>
      <p:sp>
        <p:nvSpPr>
          <p:cNvPr id="109" name="Google Shape;109;p9"/>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Suggested sequence for onboarding</a:t>
            </a:r>
            <a:endParaRPr b="0" i="0" sz="1200" u="none" cap="none" strike="noStrike">
              <a:solidFill>
                <a:schemeClr val="dk1"/>
              </a:solidFill>
              <a:latin typeface="Calibri"/>
              <a:ea typeface="Calibri"/>
              <a:cs typeface="Calibri"/>
              <a:sym typeface="Calibri"/>
            </a:endParaRPr>
          </a:p>
        </p:txBody>
      </p:sp>
      <p:sp>
        <p:nvSpPr>
          <p:cNvPr id="110" name="Google Shape;110;p9"/>
          <p:cNvSpPr/>
          <p:nvPr/>
        </p:nvSpPr>
        <p:spPr>
          <a:xfrm>
            <a:off x="457200" y="1097280"/>
            <a:ext cx="457200" cy="457200"/>
          </a:xfrm>
          <a:prstGeom prst="ellipse">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457200" y="10972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12" name="Google Shape;112;p9"/>
          <p:cNvSpPr/>
          <p:nvPr/>
        </p:nvSpPr>
        <p:spPr>
          <a:xfrm>
            <a:off x="1143000" y="105156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Phase 1 (Week 1)</a:t>
            </a:r>
            <a:endParaRPr b="0" i="0" sz="1400" u="none" cap="none" strike="noStrike">
              <a:solidFill>
                <a:schemeClr val="dk1"/>
              </a:solidFill>
              <a:latin typeface="Calibri"/>
              <a:ea typeface="Calibri"/>
              <a:cs typeface="Calibri"/>
              <a:sym typeface="Calibri"/>
            </a:endParaRPr>
          </a:p>
        </p:txBody>
      </p:sp>
      <p:sp>
        <p:nvSpPr>
          <p:cNvPr id="113" name="Google Shape;113;p9"/>
          <p:cNvSpPr/>
          <p:nvPr/>
        </p:nvSpPr>
        <p:spPr>
          <a:xfrm>
            <a:off x="1143000" y="137160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Enable URLhaus as a default MISP feed. Configure Sentinel TAXII connector. Fastest win - highest integration ease of the five feeds.</a:t>
            </a:r>
            <a:endParaRPr b="0" i="0" sz="1100" u="none" cap="none" strike="noStrike">
              <a:solidFill>
                <a:schemeClr val="dk1"/>
              </a:solidFill>
              <a:latin typeface="Calibri"/>
              <a:ea typeface="Calibri"/>
              <a:cs typeface="Calibri"/>
              <a:sym typeface="Calibri"/>
            </a:endParaRPr>
          </a:p>
        </p:txBody>
      </p:sp>
      <p:sp>
        <p:nvSpPr>
          <p:cNvPr id="114" name="Google Shape;114;p9"/>
          <p:cNvSpPr/>
          <p:nvPr/>
        </p:nvSpPr>
        <p:spPr>
          <a:xfrm>
            <a:off x="457200" y="2057400"/>
            <a:ext cx="457200" cy="457200"/>
          </a:xfrm>
          <a:prstGeom prst="ellipse">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457200" y="20574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16" name="Google Shape;116;p9"/>
          <p:cNvSpPr/>
          <p:nvPr/>
        </p:nvSpPr>
        <p:spPr>
          <a:xfrm>
            <a:off x="1143000" y="201168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Phase 2 (Week 2)</a:t>
            </a:r>
            <a:endParaRPr b="0" i="0" sz="1400" u="none" cap="none" strike="noStrike">
              <a:solidFill>
                <a:schemeClr val="dk1"/>
              </a:solidFill>
              <a:latin typeface="Calibri"/>
              <a:ea typeface="Calibri"/>
              <a:cs typeface="Calibri"/>
              <a:sym typeface="Calibri"/>
            </a:endParaRPr>
          </a:p>
        </p:txBody>
      </p:sp>
      <p:sp>
        <p:nvSpPr>
          <p:cNvPr id="117" name="Google Shape;117;p9"/>
          <p:cNvSpPr/>
          <p:nvPr/>
        </p:nvSpPr>
        <p:spPr>
          <a:xfrm>
            <a:off x="1143000" y="233172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Enable AlienVault OTX default feed in MISP - highest Relevance match to observed identity-attack patterns. Install OTX solution package from Sentinel Content Hub. Tune pulse subscriptions.</a:t>
            </a:r>
            <a:endParaRPr b="0" i="0" sz="1100" u="none" cap="none" strike="noStrike">
              <a:solidFill>
                <a:schemeClr val="dk1"/>
              </a:solidFill>
              <a:latin typeface="Calibri"/>
              <a:ea typeface="Calibri"/>
              <a:cs typeface="Calibri"/>
              <a:sym typeface="Calibri"/>
            </a:endParaRPr>
          </a:p>
        </p:txBody>
      </p:sp>
      <p:sp>
        <p:nvSpPr>
          <p:cNvPr id="118" name="Google Shape;118;p9"/>
          <p:cNvSpPr/>
          <p:nvPr/>
        </p:nvSpPr>
        <p:spPr>
          <a:xfrm>
            <a:off x="457200" y="3017520"/>
            <a:ext cx="457200" cy="457200"/>
          </a:xfrm>
          <a:prstGeom prst="ellipse">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457200" y="3017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1143000" y="297180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Phase 3 (Week 3)</a:t>
            </a:r>
            <a:endParaRPr b="0" i="0" sz="1400" u="none" cap="none" strike="noStrike">
              <a:solidFill>
                <a:schemeClr val="dk1"/>
              </a:solidFill>
              <a:latin typeface="Calibri"/>
              <a:ea typeface="Calibri"/>
              <a:cs typeface="Calibri"/>
              <a:sym typeface="Calibri"/>
            </a:endParaRPr>
          </a:p>
        </p:txBody>
      </p:sp>
      <p:sp>
        <p:nvSpPr>
          <p:cNvPr id="121" name="Google Shape;121;p9"/>
          <p:cNvSpPr/>
          <p:nvPr/>
        </p:nvSpPr>
        <p:spPr>
          <a:xfrm>
            <a:off x="1143000" y="329184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Route CISA KEV data to vulnerability management workflow (not Sentinel TI). Confirm Feodo Tracker dataset status; enable only if active.</a:t>
            </a:r>
            <a:endParaRPr b="0" i="0" sz="1100" u="none" cap="none" strike="noStrike">
              <a:solidFill>
                <a:schemeClr val="dk1"/>
              </a:solidFill>
              <a:latin typeface="Calibri"/>
              <a:ea typeface="Calibri"/>
              <a:cs typeface="Calibri"/>
              <a:sym typeface="Calibri"/>
            </a:endParaRPr>
          </a:p>
        </p:txBody>
      </p:sp>
      <p:sp>
        <p:nvSpPr>
          <p:cNvPr id="122" name="Google Shape;122;p9"/>
          <p:cNvSpPr/>
          <p:nvPr/>
        </p:nvSpPr>
        <p:spPr>
          <a:xfrm>
            <a:off x="457200" y="3977640"/>
            <a:ext cx="457200" cy="457200"/>
          </a:xfrm>
          <a:prstGeom prst="ellipse">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457200" y="39776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24" name="Google Shape;124;p9"/>
          <p:cNvSpPr/>
          <p:nvPr/>
        </p:nvSpPr>
        <p:spPr>
          <a:xfrm>
            <a:off x="1143000" y="3931920"/>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5D"/>
              </a:buClr>
              <a:buSzPts val="1400"/>
              <a:buFont typeface="Calibri"/>
              <a:buNone/>
            </a:pPr>
            <a:r>
              <a:rPr b="1" i="0" lang="en-US" sz="1400" u="none" cap="none" strike="noStrike">
                <a:solidFill>
                  <a:srgbClr val="1A365D"/>
                </a:solidFill>
                <a:latin typeface="Calibri"/>
                <a:ea typeface="Calibri"/>
                <a:cs typeface="Calibri"/>
                <a:sym typeface="Calibri"/>
              </a:rPr>
              <a:t>Phase 4 (later)</a:t>
            </a:r>
            <a:endParaRPr b="0" i="0" sz="1400" u="none" cap="none" strike="noStrike">
              <a:solidFill>
                <a:schemeClr val="dk1"/>
              </a:solidFill>
              <a:latin typeface="Calibri"/>
              <a:ea typeface="Calibri"/>
              <a:cs typeface="Calibri"/>
              <a:sym typeface="Calibri"/>
            </a:endParaRPr>
          </a:p>
        </p:txBody>
      </p:sp>
      <p:sp>
        <p:nvSpPr>
          <p:cNvPr id="125" name="Google Shape;125;p9"/>
          <p:cNvSpPr/>
          <p:nvPr/>
        </p:nvSpPr>
        <p:spPr>
          <a:xfrm>
            <a:off x="1143000" y="425196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Reassess Emerging Threats Open if a network sensor tier is added. Otherwise maintain in MISP only or defer indefinitely.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0"/>
          <p:cNvSpPr/>
          <p:nvPr/>
        </p:nvSpPr>
        <p:spPr>
          <a:xfrm>
            <a:off x="0" y="0"/>
            <a:ext cx="9144000" cy="822960"/>
          </a:xfrm>
          <a:prstGeom prst="rect">
            <a:avLst/>
          </a:prstGeom>
          <a:solidFill>
            <a:srgbClr val="1A365D"/>
          </a:solidFill>
          <a:ln cap="flat" cmpd="sng" w="12700">
            <a:solidFill>
              <a:srgbClr val="1A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457200" y="109728"/>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Open Questions and Next Steps</a:t>
            </a:r>
            <a:endParaRPr b="0" i="0" sz="2200" u="none" cap="none" strike="noStrike">
              <a:solidFill>
                <a:schemeClr val="dk1"/>
              </a:solidFill>
              <a:latin typeface="Calibri"/>
              <a:ea typeface="Calibri"/>
              <a:cs typeface="Calibri"/>
              <a:sym typeface="Calibri"/>
            </a:endParaRPr>
          </a:p>
        </p:txBody>
      </p:sp>
      <p:sp>
        <p:nvSpPr>
          <p:cNvPr id="133" name="Google Shape;133;p10"/>
          <p:cNvSpPr/>
          <p:nvPr/>
        </p:nvSpPr>
        <p:spPr>
          <a:xfrm>
            <a:off x="457200" y="47548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0"/>
              </a:buClr>
              <a:buSzPts val="1200"/>
              <a:buFont typeface="Calibri"/>
              <a:buNone/>
            </a:pPr>
            <a:r>
              <a:rPr b="0" i="0" lang="en-US" sz="1200" u="none" cap="none" strike="noStrike">
                <a:solidFill>
                  <a:srgbClr val="CBD5E0"/>
                </a:solidFill>
                <a:latin typeface="Calibri"/>
                <a:ea typeface="Calibri"/>
                <a:cs typeface="Calibri"/>
                <a:sym typeface="Calibri"/>
              </a:rPr>
              <a:t>Confirmations and follow-ups</a:t>
            </a:r>
            <a:endParaRPr b="0" i="0" sz="1200" u="none" cap="none" strike="noStrike">
              <a:solidFill>
                <a:schemeClr val="dk1"/>
              </a:solidFill>
              <a:latin typeface="Calibri"/>
              <a:ea typeface="Calibri"/>
              <a:cs typeface="Calibri"/>
              <a:sym typeface="Calibri"/>
            </a:endParaRPr>
          </a:p>
        </p:txBody>
      </p:sp>
      <p:sp>
        <p:nvSpPr>
          <p:cNvPr id="134" name="Google Shape;134;p10"/>
          <p:cNvSpPr/>
          <p:nvPr/>
        </p:nvSpPr>
        <p:spPr>
          <a:xfrm>
            <a:off x="548640" y="1051560"/>
            <a:ext cx="8046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65D"/>
              </a:buClr>
              <a:buSzPts val="1600"/>
              <a:buFont typeface="Calibri"/>
              <a:buNone/>
            </a:pPr>
            <a:r>
              <a:rPr b="1" i="0" lang="en-US" sz="1600" u="none" cap="none" strike="noStrike">
                <a:solidFill>
                  <a:srgbClr val="1A365D"/>
                </a:solidFill>
                <a:latin typeface="Calibri"/>
                <a:ea typeface="Calibri"/>
                <a:cs typeface="Calibri"/>
                <a:sym typeface="Calibri"/>
              </a:rPr>
              <a:t>For confirmation</a:t>
            </a:r>
            <a:endParaRPr b="0" i="0" sz="1600" u="none" cap="none" strike="noStrike">
              <a:solidFill>
                <a:schemeClr val="dk1"/>
              </a:solidFill>
              <a:latin typeface="Calibri"/>
              <a:ea typeface="Calibri"/>
              <a:cs typeface="Calibri"/>
              <a:sym typeface="Calibri"/>
            </a:endParaRPr>
          </a:p>
        </p:txBody>
      </p:sp>
      <p:sp>
        <p:nvSpPr>
          <p:cNvPr id="135" name="Google Shape;135;p10"/>
          <p:cNvSpPr/>
          <p:nvPr/>
        </p:nvSpPr>
        <p:spPr>
          <a:xfrm>
            <a:off x="731520" y="1417320"/>
            <a:ext cx="786384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Does the 90-day Sentinel alert window match your view of the current threat profile?</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Sign-off on rubric (1 to 5 scale, Priority tier mapping)</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Confirm platform priority: MISP-first, Sentinel-first, or parallel</a:t>
            </a:r>
            <a:endParaRPr b="0" i="0" sz="1300" u="none" cap="none" strike="noStrike">
              <a:solidFill>
                <a:schemeClr val="dk1"/>
              </a:solidFill>
              <a:latin typeface="Calibri"/>
              <a:ea typeface="Calibri"/>
              <a:cs typeface="Calibri"/>
              <a:sym typeface="Calibri"/>
            </a:endParaRPr>
          </a:p>
        </p:txBody>
      </p:sp>
      <p:sp>
        <p:nvSpPr>
          <p:cNvPr id="136" name="Google Shape;136;p10"/>
          <p:cNvSpPr/>
          <p:nvPr/>
        </p:nvSpPr>
        <p:spPr>
          <a:xfrm>
            <a:off x="548640" y="2880360"/>
            <a:ext cx="8046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65D"/>
              </a:buClr>
              <a:buSzPts val="1600"/>
              <a:buFont typeface="Calibri"/>
              <a:buNone/>
            </a:pPr>
            <a:r>
              <a:rPr b="1" i="0" lang="en-US" sz="1600" u="none" cap="none" strike="noStrike">
                <a:solidFill>
                  <a:srgbClr val="1A365D"/>
                </a:solidFill>
                <a:latin typeface="Calibri"/>
                <a:ea typeface="Calibri"/>
                <a:cs typeface="Calibri"/>
                <a:sym typeface="Calibri"/>
              </a:rPr>
              <a:t>Follow-ups</a:t>
            </a:r>
            <a:endParaRPr b="0" i="0" sz="1600" u="none" cap="none" strike="noStrike">
              <a:solidFill>
                <a:schemeClr val="dk1"/>
              </a:solidFill>
              <a:latin typeface="Calibri"/>
              <a:ea typeface="Calibri"/>
              <a:cs typeface="Calibri"/>
              <a:sym typeface="Calibri"/>
            </a:endParaRPr>
          </a:p>
        </p:txBody>
      </p:sp>
      <p:sp>
        <p:nvSpPr>
          <p:cNvPr id="137" name="Google Shape;137;p10"/>
          <p:cNvSpPr/>
          <p:nvPr/>
        </p:nvSpPr>
        <p:spPr>
          <a:xfrm>
            <a:off x="731520" y="3246120"/>
            <a:ext cx="786384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Legal review of commercial-use restrictions on URLhaus, Feodo, and OTX</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Confirm current Feodo Tracker dataset availability with abuse.ch / Spamhaus</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02C"/>
              </a:buClr>
              <a:buSzPts val="1300"/>
              <a:buFont typeface="Calibri"/>
              <a:buChar char="•"/>
            </a:pPr>
            <a:r>
              <a:rPr b="0" i="0" lang="en-US" sz="1300" u="none" cap="none" strike="noStrike">
                <a:solidFill>
                  <a:srgbClr val="1A202C"/>
                </a:solidFill>
                <a:latin typeface="Calibri"/>
                <a:ea typeface="Calibri"/>
                <a:cs typeface="Calibri"/>
                <a:sym typeface="Calibri"/>
              </a:rPr>
              <a:t>Route CISA KEV integration to vulnerability management workstream</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65D"/>
        </a:solidFill>
      </p:bgPr>
    </p:bg>
    <p:spTree>
      <p:nvGrpSpPr>
        <p:cNvPr id="142" name="Shape 142"/>
        <p:cNvGrpSpPr/>
        <p:nvPr/>
      </p:nvGrpSpPr>
      <p:grpSpPr>
        <a:xfrm>
          <a:off x="0" y="0"/>
          <a:ext cx="0" cy="0"/>
          <a:chOff x="0" y="0"/>
          <a:chExt cx="0" cy="0"/>
        </a:xfrm>
      </p:grpSpPr>
      <p:sp>
        <p:nvSpPr>
          <p:cNvPr id="143" name="Google Shape;143;p11"/>
          <p:cNvSpPr/>
          <p:nvPr/>
        </p:nvSpPr>
        <p:spPr>
          <a:xfrm>
            <a:off x="457200" y="1828800"/>
            <a:ext cx="82296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Questions and Discussion</a:t>
            </a:r>
            <a:endParaRPr b="0" i="0" sz="3600" u="none" cap="none" strike="noStrike">
              <a:solidFill>
                <a:schemeClr val="dk1"/>
              </a:solidFill>
              <a:latin typeface="Calibri"/>
              <a:ea typeface="Calibri"/>
              <a:cs typeface="Calibri"/>
              <a:sym typeface="Calibri"/>
            </a:endParaRPr>
          </a:p>
        </p:txBody>
      </p:sp>
      <p:sp>
        <p:nvSpPr>
          <p:cNvPr id="144" name="Google Shape;144;p11"/>
          <p:cNvSpPr/>
          <p:nvPr/>
        </p:nvSpPr>
        <p:spPr>
          <a:xfrm>
            <a:off x="457200" y="274320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0"/>
              </a:buClr>
              <a:buSzPts val="1400"/>
              <a:buFont typeface="Calibri"/>
              <a:buNone/>
            </a:pPr>
            <a:r>
              <a:rPr b="0" i="0" lang="en-US" sz="1400" u="none" cap="none" strike="noStrike">
                <a:solidFill>
                  <a:srgbClr val="CBD5E0"/>
                </a:solidFill>
                <a:latin typeface="Calibri"/>
                <a:ea typeface="Calibri"/>
                <a:cs typeface="Calibri"/>
                <a:sym typeface="Calibri"/>
              </a:rPr>
              <a:t>Full matrix and scoring rubric available in the accompanying Google Sheet.</a:t>
            </a:r>
            <a:endParaRPr b="0" i="0" sz="1400" u="none" cap="none" strike="noStrike">
              <a:solidFill>
                <a:schemeClr val="dk1"/>
              </a:solidFill>
              <a:latin typeface="Calibri"/>
              <a:ea typeface="Calibri"/>
              <a:cs typeface="Calibri"/>
              <a:sym typeface="Calibri"/>
            </a:endParaRPr>
          </a:p>
        </p:txBody>
      </p:sp>
      <p:sp>
        <p:nvSpPr>
          <p:cNvPr id="145" name="Google Shape;145;p11"/>
          <p:cNvSpPr/>
          <p:nvPr/>
        </p:nvSpPr>
        <p:spPr>
          <a:xfrm>
            <a:off x="457200" y="4114800"/>
            <a:ext cx="82296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Mohamed Yagoub</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linkedin.com/in/mohamed-yagoub  |  github.com/goubx</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